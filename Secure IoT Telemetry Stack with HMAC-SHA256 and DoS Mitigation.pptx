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notesMasterIdLst>
    <p:notesMasterId r:id="rId26"/>
  </p:notesMasterIdLst>
  <p:sldIdLst>
    <p:sldId id="273" r:id="rId2"/>
    <p:sldId id="291" r:id="rId3"/>
    <p:sldId id="258" r:id="rId4"/>
    <p:sldId id="259" r:id="rId5"/>
    <p:sldId id="284" r:id="rId6"/>
    <p:sldId id="276" r:id="rId7"/>
    <p:sldId id="280" r:id="rId8"/>
    <p:sldId id="282" r:id="rId9"/>
    <p:sldId id="274" r:id="rId10"/>
    <p:sldId id="285" r:id="rId11"/>
    <p:sldId id="278" r:id="rId12"/>
    <p:sldId id="263" r:id="rId13"/>
    <p:sldId id="262" r:id="rId14"/>
    <p:sldId id="265" r:id="rId15"/>
    <p:sldId id="286" r:id="rId16"/>
    <p:sldId id="287" r:id="rId17"/>
    <p:sldId id="279" r:id="rId18"/>
    <p:sldId id="267" r:id="rId19"/>
    <p:sldId id="277" r:id="rId20"/>
    <p:sldId id="288" r:id="rId21"/>
    <p:sldId id="289" r:id="rId22"/>
    <p:sldId id="290" r:id="rId23"/>
    <p:sldId id="275" r:id="rId24"/>
    <p:sldId id="281" r:id="rId2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90" d="100"/>
          <a:sy n="90" d="100"/>
        </p:scale>
        <p:origin x="39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EC7DE7-51F1-4A30-B79F-1615DB84B75D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BD021D-A529-4D9C-9636-72BB150660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8294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BBD021D-A529-4D9C-9636-72BB1506602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08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BC4A-9838-421D-8297-B4D0C61DFEF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1092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BC4A-9838-421D-8297-B4D0C61DFEF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71506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BC4A-9838-421D-8297-B4D0C61DFEF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7744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BC4A-9838-421D-8297-B4D0C61DFEF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93269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BC4A-9838-421D-8297-B4D0C61DFEF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6572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BC4A-9838-421D-8297-B4D0C61DFEF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84053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BC4A-9838-421D-8297-B4D0C61DFEF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19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BC4A-9838-421D-8297-B4D0C61DFEF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7809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BC4A-9838-421D-8297-B4D0C61DFEF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881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BC4A-9838-421D-8297-B4D0C61DFEF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3423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BC4A-9838-421D-8297-B4D0C61DFEF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646700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BC4A-9838-421D-8297-B4D0C61DFEF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282073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BC4A-9838-421D-8297-B4D0C61DFEF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943914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BC4A-9838-421D-8297-B4D0C61DFEF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91813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BC4A-9838-421D-8297-B4D0C61DFEF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3474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BBBC4A-9838-421D-8297-B4D0C61DFEF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7620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BBBC4A-9838-421D-8297-B4D0C61DFEF5}" type="datetimeFigureOut">
              <a:rPr lang="en-US" smtClean="0"/>
              <a:t>7/2/2026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7C3B71F-533B-44C5-B212-E34C8E441C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9533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5B6987-92A7-056B-F28C-D1577DD93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700" y="1227131"/>
            <a:ext cx="10515600" cy="4428601"/>
          </a:xfrm>
        </p:spPr>
        <p:txBody>
          <a:bodyPr>
            <a:no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COMPUTER ENGINEERING, MODELING, ELECTRONICS AND SYSTEM ENGINEERING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LM-Telecommunication Engineering: Smart Sensing, Computing and Networking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Security</a:t>
            </a:r>
            <a:b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IoT Sensor Data Monitoring System</a:t>
            </a:r>
            <a:b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Supervisor :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Antonio Guerrieri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5A44C-E0A7-A53E-E13A-C8251F3402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791200"/>
            <a:ext cx="10515600" cy="881205"/>
          </a:xfrm>
        </p:spPr>
        <p:txBody>
          <a:bodyPr>
            <a:normAutofit lnSpcReduction="10000"/>
          </a:bodyPr>
          <a:lstStyle/>
          <a:p>
            <a:pPr marL="0" indent="0">
              <a:spcBef>
                <a:spcPts val="300"/>
              </a:spcBef>
              <a:buNone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</a:t>
            </a: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Implemented by:</a:t>
            </a:r>
          </a:p>
          <a:p>
            <a:pPr marL="0" indent="0">
              <a:spcBef>
                <a:spcPts val="300"/>
              </a:spcBef>
              <a:buNone/>
            </a:pPr>
            <a:r>
              <a:rPr lang="en-US" sz="2400" dirty="0">
                <a:solidFill>
                  <a:schemeClr val="accent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Rami Saleh                                 Hussein Mohammed</a:t>
            </a:r>
            <a:endParaRPr lang="en-US" sz="2400" dirty="0">
              <a:solidFill>
                <a:schemeClr val="accent1"/>
              </a:solidFill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06788D9-513C-41B0-46EA-BCC7E710D5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33"/>
            <a:ext cx="2451798" cy="12258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36588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1BF333-B010-EA06-7968-E658B7A61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604" y="156238"/>
            <a:ext cx="11271564" cy="939231"/>
          </a:xfrm>
        </p:spPr>
        <p:txBody>
          <a:bodyPr/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2D2AFF-7F58-DA5B-E543-F576DAE6F0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604" y="1095470"/>
            <a:ext cx="11271564" cy="5606292"/>
          </a:xfrm>
        </p:spPr>
        <p:txBody>
          <a:bodyPr/>
          <a:lstStyle/>
          <a:p>
            <a:pPr marL="0" indent="0">
              <a:buNone/>
            </a:pPr>
            <a:r>
              <a:rPr lang="en-US" sz="18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 of the project: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800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an IoT-based sensor data monitoring system that: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data from MQ2 (gas sensor) and DHT11 (temperature &amp; humidity sensor) using an ESP32 microcontroller.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Sends the data to a Flask server for processing and storage.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verifies data integrity and authenticity using HMAC-SHA256.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system availability against DOS attack.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data in a MySQL database.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Publishes real-time data to HiveMQ Cloud (MQTT broker).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Display data values in Node-Red dashboard.</a:t>
            </a:r>
          </a:p>
        </p:txBody>
      </p:sp>
    </p:spTree>
    <p:extLst>
      <p:ext uri="{BB962C8B-B14F-4D97-AF65-F5344CB8AC3E}">
        <p14:creationId xmlns:p14="http://schemas.microsoft.com/office/powerpoint/2010/main" val="1421831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4BFFC3-A3D8-0B45-780F-9F441756D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5002"/>
            <a:ext cx="10515600" cy="724323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b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9190444-C7E7-A352-0750-00A0225E96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718650" y="1107557"/>
            <a:ext cx="8754700" cy="5403427"/>
          </a:xfr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458BCE09-EAA8-9ECA-9547-245DEE7CA8F4}"/>
              </a:ext>
            </a:extLst>
          </p:cNvPr>
          <p:cNvCxnSpPr>
            <a:cxnSpLocks/>
          </p:cNvCxnSpPr>
          <p:nvPr/>
        </p:nvCxnSpPr>
        <p:spPr>
          <a:xfrm flipV="1">
            <a:off x="5984341" y="2877550"/>
            <a:ext cx="989195" cy="6831"/>
          </a:xfrm>
          <a:prstGeom prst="straightConnector1">
            <a:avLst/>
          </a:prstGeom>
          <a:ln>
            <a:solidFill>
              <a:srgbClr val="FFFF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B12DEC5-68BC-3CBC-3F61-33574C712FB1}"/>
              </a:ext>
            </a:extLst>
          </p:cNvPr>
          <p:cNvCxnSpPr>
            <a:cxnSpLocks/>
          </p:cNvCxnSpPr>
          <p:nvPr/>
        </p:nvCxnSpPr>
        <p:spPr>
          <a:xfrm>
            <a:off x="5900711" y="2507197"/>
            <a:ext cx="107282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53B10ED8-9EA9-A219-5E56-7F3C9F27800D}"/>
              </a:ext>
            </a:extLst>
          </p:cNvPr>
          <p:cNvSpPr txBox="1"/>
          <p:nvPr/>
        </p:nvSpPr>
        <p:spPr>
          <a:xfrm>
            <a:off x="5395865" y="2034770"/>
            <a:ext cx="16597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150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Spoofing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6F05EC4-B874-D102-D2E1-CAB29FFC46D8}"/>
              </a:ext>
            </a:extLst>
          </p:cNvPr>
          <p:cNvSpPr txBox="1"/>
          <p:nvPr/>
        </p:nvSpPr>
        <p:spPr>
          <a:xfrm>
            <a:off x="6113957" y="2530764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DOS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D83015B-C4BB-5745-A77C-C9E606C45D47}"/>
              </a:ext>
            </a:extLst>
          </p:cNvPr>
          <p:cNvSpPr txBox="1"/>
          <p:nvPr/>
        </p:nvSpPr>
        <p:spPr>
          <a:xfrm>
            <a:off x="3309774" y="4239955"/>
            <a:ext cx="8226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ESP32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C96B13-18F1-F62A-C1F4-A5C98039BC93}"/>
              </a:ext>
            </a:extLst>
          </p:cNvPr>
          <p:cNvSpPr txBox="1"/>
          <p:nvPr/>
        </p:nvSpPr>
        <p:spPr>
          <a:xfrm>
            <a:off x="8564578" y="4970352"/>
            <a:ext cx="1275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Base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F665E9A-237A-49B3-DA3D-4C7CB26EC4F0}"/>
              </a:ext>
            </a:extLst>
          </p:cNvPr>
          <p:cNvSpPr txBox="1"/>
          <p:nvPr/>
        </p:nvSpPr>
        <p:spPr>
          <a:xfrm>
            <a:off x="8298928" y="2126900"/>
            <a:ext cx="18069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UBUNTU Server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6C6AF21-0892-BF1F-E52B-11B755D9069B}"/>
              </a:ext>
            </a:extLst>
          </p:cNvPr>
          <p:cNvSpPr txBox="1"/>
          <p:nvPr/>
        </p:nvSpPr>
        <p:spPr>
          <a:xfrm>
            <a:off x="1634369" y="2137865"/>
            <a:ext cx="25099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DHT11 &amp; MQ-2 Sensors</a:t>
            </a:r>
          </a:p>
        </p:txBody>
      </p:sp>
    </p:spTree>
    <p:extLst>
      <p:ext uri="{BB962C8B-B14F-4D97-AF65-F5344CB8AC3E}">
        <p14:creationId xmlns:p14="http://schemas.microsoft.com/office/powerpoint/2010/main" val="37445932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83C7E-5E98-EDD0-530C-D95E50564F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7283" y="130269"/>
            <a:ext cx="11688024" cy="756971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F86AE8-7E03-A4DA-C3F1-265E17BE15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7283" y="887240"/>
            <a:ext cx="11688024" cy="5767057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 Layer: ESP32 + Sensors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Layer: Flask server with security measures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 Layer: MySQL database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Visualization Layer: Node-RED dashboard, which provide Real-time Monitoring Features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27595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3A544-9285-9E75-6022-796CA57BD5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2550" y="102576"/>
            <a:ext cx="11588436" cy="106532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Data flow in Normal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BE4AE2-BD97-0E67-5664-9C87F6CA21B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550" y="1167898"/>
            <a:ext cx="11588436" cy="5587526"/>
          </a:xfrm>
        </p:spPr>
        <p:txBody>
          <a:bodyPr>
            <a:norm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collects sensor readings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Transmitted via HTTP to Flask server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receives the data and store it in MySQL database 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forwarded to Node-Red via MQTT Protocol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visualization on Node-Red dashboard </a:t>
            </a: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6361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BEA833-5798-D73F-C2FD-2BC8AC4FF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90" y="18594"/>
            <a:ext cx="11630020" cy="730344"/>
          </a:xfrm>
        </p:spPr>
        <p:txBody>
          <a:bodyPr>
            <a:normAutofit/>
          </a:bodyPr>
          <a:lstStyle/>
          <a:p>
            <a:r>
              <a:rPr lang="en-US" sz="3600" dirty="0"/>
              <a:t>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in Normal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BE8A6E-53D4-64E3-8A6F-0CF56594E9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0988" y="748938"/>
            <a:ext cx="11630020" cy="5905359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 sends data to the Server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B64475C-EE2A-4133-3C1D-9359CFC72F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88" y="1247774"/>
            <a:ext cx="11630020" cy="540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2149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FD453-D8E8-6409-09CE-8C27D55B48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033" y="84467"/>
            <a:ext cx="11947931" cy="920467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Data flow in Normal scenario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E1591C-C2E4-287B-6480-3010B1C7A4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034" y="1004934"/>
            <a:ext cx="11947931" cy="5622203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Flask server after receiving the data from the ESP32 stores it in data base and sends it to the Nod-Red via MQTT protocol.</a:t>
            </a:r>
          </a:p>
        </p:txBody>
      </p:sp>
      <p:pic>
        <p:nvPicPr>
          <p:cNvPr id="7" name="Picture 6" descr="A screenshot of a device&#10;&#10;AI-generated content may be incorrect.">
            <a:extLst>
              <a:ext uri="{FF2B5EF4-FFF2-40B4-BE49-F238E27FC236}">
                <a16:creationId xmlns:a16="http://schemas.microsoft.com/office/drawing/2014/main" id="{02BE680D-888D-938F-AA19-E5AB161955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22055" y="1925401"/>
            <a:ext cx="2747909" cy="4701736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0429062-7931-5283-DEF2-D3DBCC07125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033" y="1925401"/>
            <a:ext cx="9200022" cy="470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1012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3E924-D120-77DC-7BEF-548FC5F481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0781" y="102575"/>
            <a:ext cx="11262510" cy="983842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attack &amp; defense - scenarios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9D806B-C86E-ABB5-E921-5D219A6B51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0781" y="1086417"/>
            <a:ext cx="11262510" cy="55950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scenarios :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 – simulate a DOS attack on the server &amp; implement a defense mechanism.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2 – simulate a </a:t>
            </a:r>
            <a:r>
              <a:rPr lang="en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Spoofing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implement a defense mechanism.</a:t>
            </a:r>
          </a:p>
        </p:txBody>
      </p:sp>
    </p:spTree>
    <p:extLst>
      <p:ext uri="{BB962C8B-B14F-4D97-AF65-F5344CB8AC3E}">
        <p14:creationId xmlns:p14="http://schemas.microsoft.com/office/powerpoint/2010/main" val="656129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80BD73-BCB5-84ED-723E-C828F2F7BC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9299" y="120683"/>
            <a:ext cx="10964501" cy="679418"/>
          </a:xfrm>
        </p:spPr>
        <p:txBody>
          <a:bodyPr>
            <a:normAutofit/>
          </a:bodyPr>
          <a:lstStyle/>
          <a:p>
            <a:r>
              <a:rPr lang="en-US" sz="3600" dirty="0"/>
              <a:t>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&amp; defense – scenario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94575E-68AF-B6B6-6137-47205AD0CC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9299" y="1195056"/>
            <a:ext cx="10964501" cy="5468293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1 : simulate a DOS attack on the server &amp; implement a defense mechanism.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DOS attack : floods a Flask server with excessive traffic , overwhelming its resources and making it unavailable to legitimate users (which is ESP32 in this case).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and this causing :</a:t>
            </a:r>
          </a:p>
          <a:p>
            <a:pPr marL="342900" indent="-342900">
              <a:buFont typeface="+mj-lt"/>
              <a:buAutoNum type="arabicPeriod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crashes (HTTP timeouts).</a:t>
            </a:r>
          </a:p>
          <a:p>
            <a:pPr marL="800100" lvl="1" indent="-342900">
              <a:buFont typeface="+mj-lt"/>
              <a:buAutoNum type="arabicPeriod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overload (MySQL slowdowns).</a:t>
            </a:r>
          </a:p>
          <a:p>
            <a:pPr marL="800100" lvl="1" indent="-342900">
              <a:buFont typeface="+mj-lt"/>
              <a:buAutoNum type="arabicPeriod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Blocked legitimate sensors data.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7425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24778-7203-DAFE-2110-B9C9D485D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1603" y="156895"/>
            <a:ext cx="11669917" cy="763573"/>
          </a:xfrm>
        </p:spPr>
        <p:txBody>
          <a:bodyPr>
            <a:normAutofit/>
          </a:bodyPr>
          <a:lstStyle/>
          <a:p>
            <a:r>
              <a:rPr lang="en-US" sz="3600" dirty="0"/>
              <a:t>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&amp; defense – scenario 1 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EA5E23-2AE0-340C-CEBB-7A0F1ECE40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1603" y="1077362"/>
            <a:ext cx="11669917" cy="5623743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the attack</a:t>
            </a:r>
          </a:p>
        </p:txBody>
      </p:sp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9997BC3-9D8B-3D51-82A4-5E64348053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569" y="1448553"/>
            <a:ext cx="11669916" cy="5252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0815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B8907-06DB-2BAB-8D20-F53900088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0988" y="119916"/>
            <a:ext cx="11753850" cy="776378"/>
          </a:xfrm>
        </p:spPr>
        <p:txBody>
          <a:bodyPr>
            <a:normAutofit/>
          </a:bodyPr>
          <a:lstStyle/>
          <a:p>
            <a:r>
              <a:rPr lang="en-US" sz="3600" dirty="0"/>
              <a:t>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&amp; defense – scenario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841958-73B8-7BA3-0F0F-E3AEA567E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7162" y="1133475"/>
            <a:ext cx="11877676" cy="5509360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values which sent from the server during the beginning of the DOS attack</a:t>
            </a:r>
          </a:p>
        </p:txBody>
      </p:sp>
      <p:pic>
        <p:nvPicPr>
          <p:cNvPr id="6" name="Picture 5" descr="A group of rectangular objects with text&#10;&#10;AI-generated content may be incorrect.">
            <a:extLst>
              <a:ext uri="{FF2B5EF4-FFF2-40B4-BE49-F238E27FC236}">
                <a16:creationId xmlns:a16="http://schemas.microsoft.com/office/drawing/2014/main" id="{AE1C37AC-D754-1893-96E6-F04AEACE84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0988" y="2796953"/>
            <a:ext cx="11753850" cy="38458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1833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5FD76-8695-A9F9-D9A2-0B82ECD8D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4978" y="121215"/>
            <a:ext cx="11398312" cy="811292"/>
          </a:xfrm>
        </p:spPr>
        <p:txBody>
          <a:bodyPr>
            <a:normAutofit/>
          </a:bodyPr>
          <a:lstStyle/>
          <a:p>
            <a:r>
              <a:rPr lang="en-US" sz="3600" dirty="0"/>
              <a:t>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&amp; defense – scenario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A434D6-93BF-666D-437B-7FE9795428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4977" y="932507"/>
            <a:ext cx="11398313" cy="561314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available options :</a:t>
            </a:r>
          </a:p>
          <a:p>
            <a:pPr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Rate Limiting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Limits requests per IP address(e.g. 10 requests/minute)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Prevents server resource exhaustion</a:t>
            </a:r>
          </a:p>
          <a:p>
            <a:pPr marL="800100" lvl="1" indent="-342900">
              <a:buFont typeface="+mj-lt"/>
              <a:buAutoNum type="arabicPeriod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Firewall Rules (iptables/ UFW)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Blocks suspicious IP addresses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malicious traffic patterns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85331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E02248-9CDE-6B48-B6D5-172FA25B33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1926" y="113848"/>
            <a:ext cx="11858624" cy="791499"/>
          </a:xfrm>
        </p:spPr>
        <p:txBody>
          <a:bodyPr>
            <a:normAutofit/>
          </a:bodyPr>
          <a:lstStyle/>
          <a:p>
            <a:r>
              <a:rPr lang="en-US" sz="3600" dirty="0"/>
              <a:t>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&amp; defense – scenario 1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60BB68-1657-BE7A-8C62-FC46B1F2E76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26" y="1032097"/>
            <a:ext cx="11858624" cy="5712056"/>
          </a:xfrm>
        </p:spPr>
        <p:txBody>
          <a:bodyPr>
            <a:norm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scenario 1 : the Firewall Rules (iptables/ UFW) was used</a:t>
            </a: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Defense 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Blocking suspicious or unknow IP addresses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30DA06-8CE0-EA57-415E-10DAE245BE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496" y="1762125"/>
            <a:ext cx="11776577" cy="477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40005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5A468A-97B1-96A0-132E-F9665716AE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711" y="129736"/>
            <a:ext cx="11624649" cy="721290"/>
          </a:xfrm>
        </p:spPr>
        <p:txBody>
          <a:bodyPr>
            <a:normAutofit/>
          </a:bodyPr>
          <a:lstStyle/>
          <a:p>
            <a:r>
              <a:rPr lang="en-US" sz="3600" dirty="0"/>
              <a:t>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&amp; defense – scenario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AC5FD9-3768-899D-11BE-D56B65BA00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711" y="851026"/>
            <a:ext cx="11624649" cy="5877238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simulate a </a:t>
            </a:r>
            <a:r>
              <a:rPr lang="en-150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Spoofing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&amp; implement a defense mechanism.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150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Spoofing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when an attacker </a:t>
            </a:r>
            <a:r>
              <a:rPr lang="en-150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 data to the server , (e.g.in this case sending incorrect temperature or gas values after modifying it {"gas": 450} → {"gas": 0}    // Fake "safe" reading)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and this causing : 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Trigger false alarms.</a:t>
            </a:r>
          </a:p>
          <a:p>
            <a:pPr marL="800100" lvl="1" indent="-342900">
              <a:buFont typeface="+mj-lt"/>
              <a:buAutoNum type="arabicPeriod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Hide critical events (e.g., gas values leaks).</a:t>
            </a:r>
          </a:p>
          <a:p>
            <a:pPr marL="800100" lvl="1" indent="-342900">
              <a:buFont typeface="+mj-lt"/>
              <a:buAutoNum type="arabicPeriod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Corrupts database entries, misleads Node-RED dashboards, and compromises safety.</a:t>
            </a:r>
          </a:p>
          <a:p>
            <a:pPr marL="800100" lvl="1" indent="-342900">
              <a:buFont typeface="+mj-lt"/>
              <a:buAutoNum type="arabicPeriod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Manipulate analytics.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209080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39517E-9887-DF82-8071-221D1FF40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230" y="102575"/>
            <a:ext cx="11841932" cy="848039"/>
          </a:xfrm>
        </p:spPr>
        <p:txBody>
          <a:bodyPr>
            <a:normAutofit/>
          </a:bodyPr>
          <a:lstStyle/>
          <a:p>
            <a:r>
              <a:rPr lang="en-US" sz="3600" dirty="0"/>
              <a:t>  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&amp; defense – scenario 2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196FDA-A687-FDB9-032F-39B3BA63FE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230" y="950614"/>
            <a:ext cx="11841932" cy="5804811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Capture the packet which sent from the ESP32 to the server by using Wireshark and knowing the format of the data.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1FBFBEF-23A6-C4A4-20BE-2FEE5D6057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230" y="1447800"/>
            <a:ext cx="11841932" cy="530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8197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37FA3-AC44-014C-E671-ACF12E33E1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5390" y="92365"/>
            <a:ext cx="11787612" cy="885409"/>
          </a:xfrm>
        </p:spPr>
        <p:txBody>
          <a:bodyPr>
            <a:normAutofit/>
          </a:bodyPr>
          <a:lstStyle/>
          <a:p>
            <a:r>
              <a:rPr lang="en-US" sz="3600" dirty="0"/>
              <a:t>                    </a:t>
            </a: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&amp; defense – scenario 2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BD32C-5CC5-D7D2-360A-BFA37735A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390" y="977774"/>
            <a:ext cx="11787612" cy="5787861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sending incorrect temperature &amp; gas values to the server</a:t>
            </a:r>
            <a:r>
              <a:rPr lang="en-150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same format of the correct packet 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7F3F6D2-AB16-8CE9-79D7-58926B428C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90" y="1333499"/>
            <a:ext cx="11787612" cy="5432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9460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4814F-B7B7-B4FB-23A7-8580E56D19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2425" y="18256"/>
            <a:ext cx="11353800" cy="931534"/>
          </a:xfrm>
        </p:spPr>
        <p:txBody>
          <a:bodyPr>
            <a:normAutofit/>
          </a:bodyPr>
          <a:lstStyle/>
          <a:p>
            <a:r>
              <a:rPr lang="en-US" dirty="0"/>
              <a:t>                  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&amp; defense – scenario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FCF75-AA39-84C1-4281-E8B697B539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2425" y="949790"/>
            <a:ext cx="11634786" cy="5695454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server receives the incorrect data and then sends it to the Node-Red </a:t>
            </a:r>
          </a:p>
        </p:txBody>
      </p:sp>
      <p:pic>
        <p:nvPicPr>
          <p:cNvPr id="6" name="Picture 5" descr="A group of colorful rectangular objects&#10;&#10;AI-generated content may be incorrect.">
            <a:extLst>
              <a:ext uri="{FF2B5EF4-FFF2-40B4-BE49-F238E27FC236}">
                <a16:creationId xmlns:a16="http://schemas.microsoft.com/office/drawing/2014/main" id="{E420BCB8-1A6D-57EE-56EC-51A6E5769E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697" y="1557197"/>
            <a:ext cx="11708605" cy="3929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88065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82967-2468-0B9B-711F-3EB0B160AD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123" y="138789"/>
            <a:ext cx="11841931" cy="802772"/>
          </a:xfrm>
        </p:spPr>
        <p:txBody>
          <a:bodyPr>
            <a:normAutofit/>
          </a:bodyPr>
          <a:lstStyle/>
          <a:p>
            <a:r>
              <a:rPr lang="en-US" sz="3200" dirty="0"/>
              <a:t>                       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&amp; defense – scenario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11C85-BD20-DA41-4FA3-B0371A141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0123" y="1104523"/>
            <a:ext cx="11841931" cy="541397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available options : </a:t>
            </a:r>
          </a:p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HMAC-SHA256 </a:t>
            </a:r>
            <a:r>
              <a:rPr lang="en-US" sz="1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(Hash-based Message Authentication Code using SHA-256)</a:t>
            </a:r>
            <a:r>
              <a:rPr lang="en-US" sz="1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0" indent="0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cryptographic mechanism that combines a secret key with a message and applies the SHA-256 hashing algorithm to produce a fixed-size output.</a:t>
            </a:r>
          </a:p>
          <a:p>
            <a:pPr marL="457200" lvl="1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 provides both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integrity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ensuring that the message was generated by someone who knows the shared secret key.</a:t>
            </a:r>
          </a:p>
          <a:p>
            <a:pPr marL="0" indent="0">
              <a:buNone/>
            </a:pPr>
            <a:endParaRPr lang="en-US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2-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Firewall Rules (iptables/UFW)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Blocks suspicious IP addresses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Filters malicious traffic patterns</a:t>
            </a: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847562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14D7BD-AA54-0F9A-7C2A-6D7671D3F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7406" y="15563"/>
            <a:ext cx="11633703" cy="654393"/>
          </a:xfrm>
        </p:spPr>
        <p:txBody>
          <a:bodyPr>
            <a:normAutofit/>
          </a:bodyPr>
          <a:lstStyle/>
          <a:p>
            <a:r>
              <a:rPr lang="en-US" sz="3200" dirty="0"/>
              <a:t>                      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&amp; defense – scenario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F97D90-7A89-F4BC-9740-C0F10240E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5390" y="669957"/>
            <a:ext cx="11805719" cy="6029606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scenario 2 : HMAC-SHA256 was used</a:t>
            </a:r>
          </a:p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ESP32: Sends a JSON payload that includes Data + Hash computed as SHA256(“Gas value, Humidity, Temperature" + secret key)</a:t>
            </a:r>
          </a:p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so, the ESP32 computes a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SHA256 hash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data string concatenated with a secret key and then sending it to the server.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E00306-F783-CDD4-C5DA-A084362FDD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389" y="2076450"/>
            <a:ext cx="11805719" cy="4623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5628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8DBA2-BC78-C42F-5989-893BE3B7F3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5925" y="84469"/>
            <a:ext cx="11651810" cy="612648"/>
          </a:xfrm>
        </p:spPr>
        <p:txBody>
          <a:bodyPr>
            <a:normAutofit/>
          </a:bodyPr>
          <a:lstStyle/>
          <a:p>
            <a:r>
              <a:rPr lang="en-US" sz="3200" dirty="0"/>
              <a:t>                          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&amp; defense – scenario 2</a:t>
            </a:r>
            <a:endParaRPr lang="en-US" sz="32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495946-399A-6EFA-AE79-63872CE9C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5925" y="697117"/>
            <a:ext cx="11651810" cy="60764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Wireshark , after capture the payload: 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even if the hash and the data are visible (because it is not encrypted), and the attacker</a:t>
            </a:r>
            <a:r>
              <a:rPr lang="en-150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try to </a:t>
            </a:r>
            <a:r>
              <a:rPr lang="en-150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150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incorrect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values, they can't compute a valid hash ( without knowing the secret key), and the server will reject the request.</a:t>
            </a:r>
          </a:p>
          <a:p>
            <a:pPr lvl="1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lightweight and effective way to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data from ESP32 to the server. </a:t>
            </a:r>
          </a:p>
          <a:p>
            <a:endParaRPr lang="en-US" sz="1600" dirty="0"/>
          </a:p>
          <a:p>
            <a:endParaRPr lang="en-US" sz="1600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0B34A1A-80E4-4EA9-E88B-169054AAEF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5208" y="2055137"/>
            <a:ext cx="9581584" cy="4718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149661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9B6DC8-F868-3528-D103-8D24D9BC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7639" y="84469"/>
            <a:ext cx="11631855" cy="594541"/>
          </a:xfrm>
        </p:spPr>
        <p:txBody>
          <a:bodyPr>
            <a:normAutofit fontScale="90000"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attack &amp; defense – scenario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869E02-CA27-40EB-8EC4-4BFFA6CA17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2504" y="679010"/>
            <a:ext cx="11631856" cy="6094521"/>
          </a:xfrm>
        </p:spPr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: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extract the JSON payload and recompute the hash from data + secret in the same way.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verify the hash sent by the ESP32 by comparing it with its own locally computed hash.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they match → data is accepted, and then send it to the Node-Red.</a:t>
            </a:r>
          </a:p>
          <a:p>
            <a:endParaRPr lang="en-US" sz="1800" dirty="0"/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B8B0E1F0-5973-80D2-9BB0-ECD01C4336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7638" y="2218099"/>
            <a:ext cx="11631856" cy="4555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76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0D6D94-0B51-80C5-9887-0D678EB9E8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727" y="120682"/>
            <a:ext cx="11253457" cy="920468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attack &amp; defense – scenario 2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3751FE-F440-7F7E-1D6B-10516E9D0D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727" y="1041150"/>
            <a:ext cx="11190083" cy="56961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using HMAC-SHA256 provides :</a:t>
            </a: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1- </a:t>
            </a: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Integrity 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hash ensures that the data hasn't been modified in transit. If even a single bit changes in Gas value, humidity, or temperature, the hash won't match.</a:t>
            </a:r>
          </a:p>
          <a:p>
            <a:pPr marL="457200" lvl="1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lvl="1" indent="0">
              <a:buNone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– </a:t>
            </a:r>
            <a:r>
              <a:rPr lang="en-US" sz="18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Authenticity : 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including a secret key in the hash that only the ESP32 and server know, it proves that the data came from a trusted source (the ESP32).An attacker who doesn't know the secret can't forge a valid hash even if they know the data format.</a:t>
            </a:r>
          </a:p>
          <a:p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710483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413D4-7704-3066-5431-C5044DB7E0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9734"/>
            <a:ext cx="10759288" cy="911415"/>
          </a:xfrm>
        </p:spPr>
        <p:txBody>
          <a:bodyPr>
            <a:normAutofit/>
          </a:bodyPr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78150F-01BC-7637-C413-E46590F322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041148"/>
            <a:ext cx="10759289" cy="5622201"/>
          </a:xfrm>
        </p:spPr>
        <p:txBody>
          <a:bodyPr>
            <a:normAutofit/>
          </a:bodyPr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demonstrates a secure IoT sensor data monitoring system. </a:t>
            </a:r>
          </a:p>
          <a:p>
            <a:pPr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defends against </a:t>
            </a:r>
            <a:r>
              <a:rPr lang="en-150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Spoofing 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HMAC-SHA256 to ensure data integrity and authenticity, while firewall rules defend against DoS attacks. </a:t>
            </a:r>
          </a:p>
          <a:p>
            <a:pPr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Flask server verifies hashes using a shared secret.</a:t>
            </a:r>
          </a:p>
          <a:p>
            <a:pPr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monitoring is achieved through MQTT and Node-RED </a:t>
            </a:r>
          </a:p>
          <a:p>
            <a:pPr>
              <a:buFont typeface="+mj-lt"/>
              <a:buAutoNum type="arabicPeriod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+mj-lt"/>
              <a:buAutoNum type="arabicPeriod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architecture showcases a practical and effective approach to IoT security.</a:t>
            </a:r>
          </a:p>
        </p:txBody>
      </p:sp>
    </p:spTree>
    <p:extLst>
      <p:ext uri="{BB962C8B-B14F-4D97-AF65-F5344CB8AC3E}">
        <p14:creationId xmlns:p14="http://schemas.microsoft.com/office/powerpoint/2010/main" val="1279803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07D0C-0432-1B51-659F-587FF91F4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5749" y="161925"/>
            <a:ext cx="11820525" cy="6591300"/>
          </a:xfrm>
        </p:spPr>
        <p:txBody>
          <a:bodyPr/>
          <a:lstStyle/>
          <a:p>
            <a:r>
              <a:rPr lang="en-US" dirty="0"/>
              <a:t>                          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                      </a:t>
            </a: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 very much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1630410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3014</TotalTime>
  <Words>1140</Words>
  <Application>Microsoft Office PowerPoint</Application>
  <PresentationFormat>Widescreen</PresentationFormat>
  <Paragraphs>148</Paragraphs>
  <Slides>24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0" baseType="lpstr">
      <vt:lpstr>Aptos</vt:lpstr>
      <vt:lpstr>Arial</vt:lpstr>
      <vt:lpstr>Times New Roman</vt:lpstr>
      <vt:lpstr>Trebuchet MS</vt:lpstr>
      <vt:lpstr>Wingdings 3</vt:lpstr>
      <vt:lpstr>Facet</vt:lpstr>
      <vt:lpstr>DEPARTMENT OF COMPUTER ENGINEERING, MODELING, ELECTRONICS AND SYSTEM ENGINEERING   LM-Telecommunication Engineering: Smart Sensing, Computing and Networking  IoT Security Project Title: IoT Sensor Data Monitoring System Supervisor : Dr. Antonio Guerrieri</vt:lpstr>
      <vt:lpstr>                                      Introduction </vt:lpstr>
      <vt:lpstr>                           System Architecture </vt:lpstr>
      <vt:lpstr>                               System Architecture</vt:lpstr>
      <vt:lpstr>                      Data flow in Normal scenario</vt:lpstr>
      <vt:lpstr>                    Data flow in Normal scenario</vt:lpstr>
      <vt:lpstr>                         Data flow in Normal scenario</vt:lpstr>
      <vt:lpstr>                     attack &amp; defense - scenarios</vt:lpstr>
      <vt:lpstr>                    attack &amp; defense – scenario 1 </vt:lpstr>
      <vt:lpstr>                    attack &amp; defense – scenario 1 </vt:lpstr>
      <vt:lpstr>                 attack &amp; defense – scenario 1 </vt:lpstr>
      <vt:lpstr>                    attack &amp; defense – scenario 1 </vt:lpstr>
      <vt:lpstr>                    attack &amp; defense – scenario 1 </vt:lpstr>
      <vt:lpstr>                   attack &amp; defense – scenario 2</vt:lpstr>
      <vt:lpstr>                      attack &amp; defense – scenario 2</vt:lpstr>
      <vt:lpstr>                    attack &amp; defense – scenario 2</vt:lpstr>
      <vt:lpstr>                      attack &amp; defense – scenario 2</vt:lpstr>
      <vt:lpstr>                         attack &amp; defense – scenario 2</vt:lpstr>
      <vt:lpstr>                        attack &amp; defense – scenario 2</vt:lpstr>
      <vt:lpstr>                          attack &amp; defense – scenario 2</vt:lpstr>
      <vt:lpstr>                              attack &amp; defense – scenario 2</vt:lpstr>
      <vt:lpstr>                    attack &amp; defense – scenario 2</vt:lpstr>
      <vt:lpstr>                                   Conclusion</vt:lpstr>
      <vt:lpstr>                                                     Thank you very much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Hussin Mohammed</dc:creator>
  <cp:lastModifiedBy>RAMI SALEH</cp:lastModifiedBy>
  <cp:revision>35</cp:revision>
  <dcterms:created xsi:type="dcterms:W3CDTF">2025-04-25T21:10:24Z</dcterms:created>
  <dcterms:modified xsi:type="dcterms:W3CDTF">2026-07-02T11:48:40Z</dcterms:modified>
</cp:coreProperties>
</file>